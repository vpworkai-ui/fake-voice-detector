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Mức giảm F1 (%)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ActiveDuration</c:v>
                  </c:pt>
                  <c:pt idx="1">
                    <c:v>ZCR</c:v>
                  </c:pt>
                  <c:pt idx="2">
                    <c:v>MeanAbs</c:v>
                  </c:pt>
                  <c:pt idx="3">
                    <c:v>Peak</c:v>
                  </c:pt>
                  <c:pt idx="4">
                    <c:v>CrestFactor</c:v>
                  </c:pt>
                  <c:pt idx="5">
                    <c:v>ClippingRatio</c:v>
                  </c:pt>
                  <c:pt idx="6">
                    <c:v>RMS</c:v>
                  </c:pt>
                  <c:pt idx="7">
                    <c:v>DynamicRange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0.4806</c:v>
                </c:pt>
                <c:pt idx="1">
                  <c:v>0.2258</c:v>
                </c:pt>
                <c:pt idx="2">
                  <c:v>0.1612</c:v>
                </c:pt>
                <c:pt idx="3">
                  <c:v>0.1363</c:v>
                </c:pt>
                <c:pt idx="4">
                  <c:v>0.0613</c:v>
                </c:pt>
                <c:pt idx="5">
                  <c:v>0.0351</c:v>
                </c:pt>
                <c:pt idx="6">
                  <c:v>0.0218</c:v>
                </c:pt>
                <c:pt idx="7">
                  <c:v>0.0218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Cross-Scale
★</c:v>
                  </c:pt>
                  <c:pt idx="1">
                    <c:v>AASIST Lite</c:v>
                  </c:pt>
                  <c:pt idx="2">
                    <c:v>CBAM ResNet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99.32</c:v>
                </c:pt>
                <c:pt idx="1">
                  <c:v>96.68</c:v>
                </c:pt>
                <c:pt idx="2">
                  <c:v>99.26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(%)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Cross-Scale
★</c:v>
                  </c:pt>
                  <c:pt idx="1">
                    <c:v>AASIST Lite</c:v>
                  </c:pt>
                  <c:pt idx="2">
                    <c:v>CBAM ResNet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99.32</c:v>
                </c:pt>
                <c:pt idx="1">
                  <c:v>96.69</c:v>
                </c:pt>
                <c:pt idx="2">
                  <c:v>99.26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"/>
          <c:min val="9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Cross-Scale ★</c:v>
                  </c:pt>
                  <c:pt idx="1">
                    <c:v>AASIST Lite</c:v>
                  </c:pt>
                  <c:pt idx="2">
                    <c:v>CBAM ResNet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85.29</c:v>
                </c:pt>
                <c:pt idx="1">
                  <c:v>70.88</c:v>
                </c:pt>
                <c:pt idx="2">
                  <c:v>85.53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F9A8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Cross-Scale ★</c:v>
                  </c:pt>
                  <c:pt idx="1">
                    <c:v>AASIST Lite</c:v>
                  </c:pt>
                  <c:pt idx="2">
                    <c:v>CBAM ResNet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97.65</c:v>
                </c:pt>
                <c:pt idx="1">
                  <c:v>55.88</c:v>
                </c:pt>
                <c:pt idx="2">
                  <c:v>96.47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(%)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Cross-Scale ★</c:v>
                  </c:pt>
                  <c:pt idx="1">
                    <c:v>AASIST Lite</c:v>
                  </c:pt>
                  <c:pt idx="2">
                    <c:v>CBAM ResNet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86.91</c:v>
                </c:pt>
                <c:pt idx="1">
                  <c:v>65.74</c:v>
                </c:pt>
                <c:pt idx="2">
                  <c:v>86.96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Thời gian (ms)</c:v>
                </c:pt>
              </c:strCache>
            </c:strRef>
          </c:tx>
          <c:spPr>
            <a:solidFill>
              <a:srgbClr val="F9A8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Trich dac trung</c:v>
                  </c:pt>
                  <c:pt idx="1">
                    <c:v>TFLite inference</c:v>
                  </c:pt>
                  <c:pt idx="2">
                    <c:v>Overhead/other</c:v>
                  </c:pt>
                  <c:pt idx="3">
                    <c:v>Tong pipeline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</c:v>
                </c:pt>
                <c:pt idx="1">
                  <c:v>63</c:v>
                </c:pt>
                <c:pt idx="2">
                  <c:v>113</c:v>
                </c:pt>
                <c:pt idx="3">
                  <c:v>311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FA5"/>
                </a:solidFill>
              </a:rPr>
              <a:t>HỌC VIỆN KỸ THUẬT MẬT MÃ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NGHIÊN CỨU GIẢI PHÁP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PHÁT HIỆN GIẢ MẠO GIỌNG NÓI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</a:rPr>
              <a:t>(DEEPFAKE VOICE DETECTION)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5786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Sử dụng AI tích hợp trên thiết bị Android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063240"/>
            <a:ext cx="2743200" cy="274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2461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Học viên: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Nguyễn Kim Ngân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58444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GVHD: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TS. Mai Đức Thọ</a:t>
            </a:r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   |   Chuyên ngành: Kỹ thuật Mật mã   |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ĐẶT VẤN ĐỀ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Deepfake Voice đang là mối đe dọa bảo mật nghiêm trọng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3935"/>
                </a:solidFill>
              </a:rPr>
              <a:t>TTS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Text-to-Speech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 tổng hợp giọng nói chân thực từ văn bản. Khó phân biệt bằng tai người.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430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</a:rPr>
              <a:t>VC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Voice Conversion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9933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Chuyển đổi giọng người này thành người khác trong thời gian thực.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1430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</a:rPr>
              <a:t>RP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Replay Attack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99339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Phát lại giọng nói đã ghi âm trước để qua mặt hệ thống xác thực.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Tại Việt Nam: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Ngân hàng số, chính phủ điện tử đang dùng xác thực giọng nói — cần giải pháp phát hiện giả mạo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nhỏ gọn, chạy offline, real-time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 trên thiết bị di động.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0416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→ Đề tài: VoiceGuard — ứng dụng Android phát hiện deepfake voice bằng AI on-device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GIẢI PHÁP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</a:rPr>
              <a:t>Kiến trúc hai lớp: On-device AI + Acoustic Features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508760" cy="1188720"/>
          </a:xfrm>
          <a:prstGeom prst="rect">
            <a:avLst/>
          </a:prstGeom>
          <a:solidFill>
            <a:srgbClr val="1B2A3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Thu âm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(16kHz)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7556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65C0"/>
                </a:solidFill>
              </a:rPr>
              <a:t>AudioSource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565C0"/>
                </a:solidFill>
              </a:rPr>
              <a:t>VOICE_RECOGNITION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83080" y="1554480"/>
            <a:ext cx="210312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144475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93392" y="1051560"/>
            <a:ext cx="1508760" cy="1188720"/>
          </a:xfrm>
          <a:prstGeom prst="rect">
            <a:avLst/>
          </a:prstGeom>
          <a:solidFill>
            <a:srgbClr val="1B2A3B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109728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 Đặc trưng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âm thanh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39112" y="17556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&lt; 5ms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trên CPU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02152" y="1554480"/>
            <a:ext cx="210312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44475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12464" y="1051560"/>
            <a:ext cx="1508760" cy="1188720"/>
          </a:xfrm>
          <a:prstGeom prst="rect">
            <a:avLst/>
          </a:prstGeom>
          <a:solidFill>
            <a:srgbClr val="1B2A3B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109728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Log-Mel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Spectrogram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58184" y="17556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[400×80]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897B"/>
                </a:solidFill>
              </a:rPr>
              <a:t>FFT nội bộ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21224" y="1554480"/>
            <a:ext cx="210312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44475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31536" y="1051560"/>
            <a:ext cx="1508760" cy="1188720"/>
          </a:xfrm>
          <a:prstGeom prst="rect">
            <a:avLst/>
          </a:prstGeom>
          <a:solidFill>
            <a:srgbClr val="1B2A3B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7256" y="109728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Cross-Scale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Attention Lite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77256" y="17556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1B9A"/>
                </a:solidFill>
              </a:rPr>
              <a:t>42KB TFLite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1B9A"/>
                </a:solidFill>
              </a:rPr>
              <a:t>Dual-input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40296" y="1554480"/>
            <a:ext cx="210312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144475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&gt;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50608" y="1051560"/>
            <a:ext cx="1508760" cy="1188720"/>
          </a:xfrm>
          <a:prstGeom prst="rect">
            <a:avLst/>
          </a:prstGeom>
          <a:solidFill>
            <a:srgbClr val="1B2A3B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96328" y="109728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 →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96328" y="17556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53935"/>
                </a:solidFill>
              </a:rPr>
              <a:t>&gt;= 0.25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53935"/>
                </a:solidFill>
              </a:rPr>
              <a:t>= SPOOF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2377440"/>
            <a:ext cx="2286000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Dual-input: Spec + Acoustic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926080"/>
            <a:ext cx="841248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9992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Thông số kỹ thuật chính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Model: 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3337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Cross-Scale Attention Lite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3666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Kích thước TFLite: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03120" y="36667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42,2 KB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995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Tham số: 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03120" y="3995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9.313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Threshold: 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3337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0,25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3666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Pipeline latency: 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36667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311 ms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3995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RAM: 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3995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14,7 MB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DỮ LIỆU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</a:rPr>
              <a:t>Dataset: 24.840 mẫu nội bộ + Dữ liệu ngoài nguồn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1B2A3B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A5"/>
                </a:solidFill>
              </a:rPr>
              <a:t>DATASET NỘI BỘ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24.840 mẫu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B5F6"/>
                </a:solidFill>
              </a:rPr>
              <a:t>12.420 bonafide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9A9A"/>
                </a:solidFill>
              </a:rPr>
              <a:t>12.420 spoof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Nguồn: VIVOS + mc_thu_hue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(tiếng Việt, 16kHz)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749040" cy="274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Phân chia: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1927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Train:      16.197 (65%)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Val:          3.975 (16%)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Test:         4.968 (20%)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14800" cy="3566160"/>
          </a:xfrm>
          <a:prstGeom prst="rect">
            <a:avLst/>
          </a:prstGeom>
          <a:solidFill>
            <a:srgbClr val="1B2A3B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</a:rPr>
              <a:t>DATASET NGOÀI NGUỒN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3898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2.000 mẫu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B5F6"/>
                </a:solidFill>
              </a:rPr>
              <a:t>1.000 bonafide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9A9A"/>
                </a:solidFill>
              </a:rPr>
              <a:t>1.000 spoof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Nguồn: VietSuperSpeech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+ Google TTS tiếng Việt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74904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063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</a:rPr>
              <a:t>Phân chia (theo yêu cầu GVHD):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3192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A825"/>
                </a:solidFill>
              </a:rPr>
              <a:t>Mix vào train:    300 (150/lớp = 15%)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Holdout test:  1.700 (850/lớp = 85%)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4041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→ Giảm domain shift, tăng tổng quát hóa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8 ĐẶC TRƯNG ÂM THANH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</a:rPr>
              <a:t>Tại sao chọn đúng 8 đặc trưng này?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64008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sqrt(1/N·Σx²)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057400" y="1097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Năng lượng tổng. TTS ổn định bất thường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65960"/>
            <a:ext cx="64008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MeanAbs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1/N·Σ|x|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574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Biên độ TB. TTS đều đặn hơn giọng thật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26080"/>
            <a:ext cx="64008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ZCR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19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Σ|sgn(xᵢ)-sgn(xᵢ₋₁)|/2N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57400" y="3017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Tần số tức thời. TTS thiếu nhiễu tự nhiên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86200"/>
            <a:ext cx="64008" cy="8686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Peak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max(|xᵢ|)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57400" y="3977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TTS peak gần 1.0, giọng thật phân tán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05840"/>
            <a:ext cx="64008" cy="8686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CrestFactor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399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Peak / RMS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92240" y="1097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Méo tín hiệu. Replay attack có CF cao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96596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965960"/>
            <a:ext cx="64008" cy="8686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ClippingRatio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23591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count(|x|&gt;0.99)/N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9224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Tỉ lệ cắt xén. Cao trong replay attack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926080"/>
            <a:ext cx="64008" cy="8686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DynamicRange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319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20·log(Peak/RMS)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92240" y="3017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Dải động. TTS ổn định, giọng thật biến động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886200"/>
            <a:ext cx="64008" cy="8686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ActiveDuration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4279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VAD duration (s)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92240" y="3977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TTS cắt chuẩn theo câu, giọng thật tự nhiên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ABLATION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</a:rPr>
              <a:t>Xác nhận định lượng tầm quan trọng từng đặc trưng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Baseline DNN (8 đặc trưng): Accuracy = 98,25%  |  F1 = 98,25%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234440"/>
            <a:ext cx="292608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Kết luận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73736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7/8 đặc trưng đều có đóng góp dương khi bỏ đi F1 giảm.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ActiveDuration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quan trọng nhất: F1 giảm 0,48% khi bỏ.
</a:t>
            </a:r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</a:rPr>
              <a:t>DynamicRange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ít nhất: F1 tăng 0,02% — giữ lại để đảm bảo tổng quát hóa.
</a:t>
            </a:r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Thêm 13 MFCC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gây domain shift, external accuracy không cải thiện.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KẾT QUẢ ĐÁNH GIÁ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</a:rPr>
              <a:t>So sánh 3 mô hình — Threshold đồng nhất = 0,25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97B"/>
                </a:solidFill>
              </a:rPr>
              <a:t>INTERNAL TEST (4.968 mẫu, threshold 0,5)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84124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788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9A825"/>
                </a:solidFill>
              </a:rPr>
              <a:t>EXTERNAL HOLDOUT (1.700 mẫu, threshold đồng nhất 0,25)</a:t>
            </a:r>
            <a:endParaRPr lang="en-US" sz="10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365760" y="3063240"/>
          <a:ext cx="841248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MODEL ĐÃ CHỌN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</a:rPr>
              <a:t>Cross-Scale Attention Lite — Lý do chọn và Ma trận nhầm lẫn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36576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Tại sao chọn Cross-Scale?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Accuracy ngoài: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85,29%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Ngang CBAM (85,53%)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075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Recall Spoof: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2075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97,65%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Cao nhất — bảo mật tốt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Kích thước: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688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42,2 KB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962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Nhỏ hơn CBAM 31%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300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Tham số: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3300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9.313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575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Ít hơn CBAM 34%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AASIST Recall: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3913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</a:rPr>
              <a:t>55,88%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Loại — quá thấp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89120" y="960120"/>
            <a:ext cx="4389120" cy="3657600"/>
          </a:xfrm>
          <a:prstGeom prst="rect">
            <a:avLst/>
          </a:prstGeom>
          <a:solidFill>
            <a:srgbClr val="1B2A3B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</a:rPr>
              <a:t>Ma trận nhầm lẫn @ threshold=0,25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1371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External holdout — 1.700 mẫu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737360"/>
            <a:ext cx="1691640" cy="1005840"/>
          </a:xfrm>
          <a:prstGeom prst="rect">
            <a:avLst/>
          </a:prstGeom>
          <a:solidFill>
            <a:srgbClr val="0D1B2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TN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592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620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709160" y="24414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Bonafide dự đúng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492240" y="1737360"/>
            <a:ext cx="1691640" cy="1005840"/>
          </a:xfrm>
          <a:prstGeom prst="rect">
            <a:avLst/>
          </a:prstGeom>
          <a:solidFill>
            <a:srgbClr val="0D1B2A"/>
          </a:solidFill>
          <a:ln w="15240">
            <a:solidFill>
              <a:srgbClr val="E539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FP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65392" y="20116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230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537960" y="244144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Bonafide → SPOOF sai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63440" y="2926080"/>
            <a:ext cx="1691640" cy="1005840"/>
          </a:xfrm>
          <a:prstGeom prst="rect">
            <a:avLst/>
          </a:prstGeom>
          <a:solidFill>
            <a:srgbClr val="0D1B2A"/>
          </a:solidFill>
          <a:ln w="15240">
            <a:solidFill>
              <a:srgbClr val="F9A8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</a:rPr>
              <a:t>FN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6592" y="3200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20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709160" y="36301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SPOOF bị bỏ sót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492240" y="2926080"/>
            <a:ext cx="1691640" cy="1005840"/>
          </a:xfrm>
          <a:prstGeom prst="rect">
            <a:avLst/>
          </a:prstGeom>
          <a:solidFill>
            <a:srgbClr val="0D1B2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TP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65392" y="3200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830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537960" y="36301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SPOOF phát hiện đúng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63440" y="14813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Dự đoán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BONAFIDE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92240" y="14813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Dự đoán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SPOOF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315968" y="1737360"/>
            <a:ext cx="347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Thật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BONAFIDE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315968" y="2926080"/>
            <a:ext cx="347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Thật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</a:rPr>
              <a:t>SPOOF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2628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FA5"/>
                </a:solidFill>
              </a:rPr>
              <a:t>Acc=85,29%  Recall=97,65%  F1=86,91%  FAR=27,06%  FRR=2,35%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PHÂN TÍCH DOMAIN SHIFT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t-SNE: Domain shift trước và sau khi mix dữ liệu ngoài</a:t>
            </a:r>
            <a:endParaRPr lang="en-US" sz="2000" dirty="0"/>
          </a:p>
        </p:txBody>
      </p:sp>
      <p:pic>
        <p:nvPicPr>
          <p:cNvPr id="5" name="Image 0" descr="/Users/phucit/Desktop/Work/Apps/Flutter/Projects/fake_voice_detector/ml/artifacts/tsne/tsne_comb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68580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914400"/>
            <a:ext cx="146304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06640" y="100584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Phát hiện
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Bonafide vs Spoof tách biệt ro
</a:t>
            </a:r>
            <a:pPr indent="0" marL="0">
              <a:buNone/>
            </a:pPr>
            <a:r>
              <a:rPr lang="en-US" sz="900" b="1" dirty="0">
                <a:solidFill>
                  <a:srgbClr val="F9A825"/>
                </a:solidFill>
              </a:rPr>
              <a:t>Domain shift:
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Internal va External nam rieng
</a:t>
            </a:r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Sau mix:
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 tang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42,9%-&gt;85,3%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6.668 mau: internal test 4.968 + external holdout 1.700 | seed=42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ỨNG DỤNG ANDROID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VoiceGuard — Minh chứng chạy thực tế trên Emulator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560320" cy="3291840"/>
          </a:xfrm>
          <a:prstGeom prst="rect">
            <a:avLst/>
          </a:prstGeom>
          <a:solidFill>
            <a:srgbClr val="1B2A3B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/Users/phucit/Desktop/Work/Apps/Flutter/Projects/fake_voice_detector/docs/figures/screenshots/new_04_bonafide_all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033272"/>
            <a:ext cx="2414016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7307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File BONAFIDE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3 model: BONAFIDE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960120"/>
            <a:ext cx="2560320" cy="3291840"/>
          </a:xfrm>
          <a:prstGeom prst="rect">
            <a:avLst/>
          </a:prstGeom>
          <a:solidFill>
            <a:srgbClr val="1B2A3B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/Users/phucit/Desktop/Work/Apps/Flutter/Projects/fake_voice_detector/docs/figures/screenshots/new_05_spoof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033272"/>
            <a:ext cx="2414016" cy="2651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37307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File SPOOF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3 model: SPOOF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80760" y="960120"/>
            <a:ext cx="2560320" cy="32918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2" descr="/Users/phucit/Desktop/Work/Apps/Flutter/Projects/fake_voice_detector/docs/figures/screenshots/new_06_settings_cle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033272"/>
            <a:ext cx="2414016" cy="2651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80760" y="37307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Cai dat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Nguong 0,25 | ASV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A5"/>
                </a:solidFill>
              </a:rPr>
              <a:t>HIỆU NĂNG THIẾT BỊ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Đo từ app chạy trên Android Emulator — real-time on-device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572768" cy="1508760"/>
          </a:xfrm>
          <a:prstGeom prst="rect">
            <a:avLst/>
          </a:prstGeom>
          <a:solidFill>
            <a:srgbClr val="1B2A3B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481328" cy="829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97B"/>
                </a:solidFill>
              </a:rPr>
              <a:t>311 ms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032711"/>
            <a:ext cx="1481328" cy="528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Tổng pipeline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(ghi âm → kết quả)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29968" y="1097280"/>
            <a:ext cx="1572768" cy="1508760"/>
          </a:xfrm>
          <a:prstGeom prst="rect">
            <a:avLst/>
          </a:prstGeom>
          <a:solidFill>
            <a:srgbClr val="1B2A3B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75688" y="1188720"/>
            <a:ext cx="1481328" cy="829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65C0"/>
                </a:solidFill>
              </a:rPr>
              <a:t>63 ms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75688" y="2032711"/>
            <a:ext cx="1481328" cy="528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TFLite inference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(dual-input model)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39896" y="1097280"/>
            <a:ext cx="1572768" cy="1508760"/>
          </a:xfrm>
          <a:prstGeom prst="rect">
            <a:avLst/>
          </a:prstGeom>
          <a:solidFill>
            <a:srgbClr val="1B2A3B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85616" y="1188720"/>
            <a:ext cx="1481328" cy="829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A825"/>
                </a:solidFill>
              </a:rPr>
              <a:t>135 ms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85616" y="2032711"/>
            <a:ext cx="1481328" cy="528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Trích đặc trưng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(8 features + Log-Mel)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9824" y="1097280"/>
            <a:ext cx="1572768" cy="1508760"/>
          </a:xfrm>
          <a:prstGeom prst="rect">
            <a:avLst/>
          </a:prstGeom>
          <a:solidFill>
            <a:srgbClr val="1B2A3B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95544" y="1188720"/>
            <a:ext cx="1481328" cy="829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1B9A"/>
                </a:solidFill>
              </a:rPr>
              <a:t>14,7 MB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95544" y="2032711"/>
            <a:ext cx="1481328" cy="528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RAM sử dụng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(JVM heap)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59752" y="1097280"/>
            <a:ext cx="1572768" cy="1508760"/>
          </a:xfrm>
          <a:prstGeom prst="rect">
            <a:avLst/>
          </a:prstGeom>
          <a:solidFill>
            <a:srgbClr val="1B2A3B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05472" y="1188720"/>
            <a:ext cx="1481328" cy="829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42 KB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05472" y="2032711"/>
            <a:ext cx="1481328" cy="528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Model TFLite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(cross_scale_lite)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78892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577840" y="2788920"/>
            <a:ext cx="320040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28529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Tieu chi nghiem thu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15000" y="32004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Accuracy &gt;= 80%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315200" y="32004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85,29%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15000" y="34564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Recall &gt;= 85%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315200" y="34564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97,65%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715000" y="37124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F1 &gt;= 80%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0" y="37124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86,91%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715000" y="39684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TFLite &lt;= 100KB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315200" y="39684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42,2 KB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715000" y="42245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Latency &lt;= 500ms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315200" y="42245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311 ms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715000" y="4480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RAM &lt;= 50MB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315200" y="448056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14,7 MB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FA5"/>
                </a:solidFill>
              </a:rPr>
              <a:t>KẾT LUẬN VÀ HƯỚNG PHÁT TRIỂN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3566160"/>
          </a:xfrm>
          <a:prstGeom prst="rect">
            <a:avLst/>
          </a:prstGeom>
          <a:solidFill>
            <a:srgbClr val="1B2A3B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Da dat duoc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73152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 hinh Cross-Scale Attention Lite 42KB, on-device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73152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093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8 dac trung am thanh co can cu khoa hoc (ablation study)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73152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568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External accuracy 85,29% sau khi mix du lieu ngoai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73152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304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Recall spoof 97,65% - it bo sot giong gia mao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73152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651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App Android VoiceGuard: 311ms, 14,7MB RAM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73152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9992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t-SNE phan tich domain shift ro rang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822960"/>
            <a:ext cx="4114800" cy="3566160"/>
          </a:xfrm>
          <a:prstGeom prst="rect">
            <a:avLst/>
          </a:prstGeom>
          <a:solidFill>
            <a:srgbClr val="1B2A3B"/>
          </a:solidFill>
          <a:ln w="1524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914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</a:rPr>
              <a:t>Huong phat trien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298448"/>
            <a:ext cx="73152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261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Test tren thiet bi Android that de do latency/RAM thuc 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719072"/>
            <a:ext cx="73152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6824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ASV backend - xac minh danh tinh nguoi noi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139696"/>
            <a:ext cx="73152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Tang du lieu ngoai nguon len 30-50% de tiep tuc giam domain shift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560320"/>
            <a:ext cx="73152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237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Trien khai tren iOS (CoreML)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980944"/>
            <a:ext cx="73152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944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Chong lai cac tan cong deepfake moi (diffusion-based TTS)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526280"/>
            <a:ext cx="85953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5262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Cam on GVHD TS. Mai Duc Tho va Hoi dong da lang nghe!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VoiceGuard — Deepfake Voice Detection</dc:title>
  <dc:subject>PptxGenJS Presentation</dc:subject>
  <dc:creator>Nguyen Kim Ngan</dc:creator>
  <cp:lastModifiedBy>Nguyen Kim Ngan</cp:lastModifiedBy>
  <cp:revision>1</cp:revision>
  <dcterms:created xsi:type="dcterms:W3CDTF">2026-06-04T09:16:32Z</dcterms:created>
  <dcterms:modified xsi:type="dcterms:W3CDTF">2026-06-04T09:16:32Z</dcterms:modified>
</cp:coreProperties>
</file>